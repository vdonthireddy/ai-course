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5400" b="1">
                <a:solidFill>
                  <a:srgbClr val="F8FAFC"/>
                </a:solidFill>
                <a:latin typeface="Arial"/>
              </a:defRPr>
            </a:pPr>
            <a:r>
              <a:t>Fundamentals of</a:t>
            </a:r>
            <a:br/>
            <a:r>
              <a:t>Machine Learning</a:t>
            </a:r>
          </a:p>
          <a:p>
            <a:pPr>
              <a:spcAft>
                <a:spcPts val="1000"/>
              </a:spcAft>
              <a:defRPr sz="2000">
                <a:solidFill>
                  <a:srgbClr val="14B8A6"/>
                </a:solidFill>
                <a:latin typeface="Arial"/>
              </a:defRPr>
            </a:pPr>
            <a:r>
              <a:t>A Step-by-Step Teaching Curriculum &amp; Core Models Guide</a:t>
            </a:r>
          </a:p>
          <a:p>
            <a:pPr>
              <a:defRPr sz="1400">
                <a:solidFill>
                  <a:srgbClr val="A1A1AA"/>
                </a:solidFill>
                <a:latin typeface="Arial"/>
              </a:defRPr>
            </a:pPr>
            <a:r>
              <a:t>Instructor Slide Deck  •  Supervised, Unsupervised, &amp; Ensembles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The Paradigm Shift: Rules vs.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Traditional Software Engineering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Human developer codes logical rules explicitly.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System applies rules directly to inputs to yield answers.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Highly deterministic but difficult to scale for complex patterns like vision or natural language.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Example:</a:t>
            </a:r>
            <a:br/>
            <a:r>
              <a:t>  If 'free' and 'money' in text: mark as spam.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Machine Learning Paradigm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Algorithm accepts raw data paired with historical outcomes.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Model self-optimizes internal parameters to map X to 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Excels at multi-variable high-dimensional datasets that defy simple rule creation.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Example:</a:t>
            </a:r>
            <a:br/>
            <a:r>
              <a:t>  Analyze millions of emails to extract probabilistic spam indicators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The Four Machine Learning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6366F1"/>
                </a:solidFill>
                <a:latin typeface="Arial"/>
              </a:defRPr>
            </a:pPr>
            <a:r>
              <a:t>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Labeled data drives training. Target labels (y) are paired with features (X).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6366F1"/>
                </a:solidFill>
              </a:defRPr>
            </a:pPr>
            <a:r>
              <a:t>Credit Scoring,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Unsupervised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Unlabeled data. Discovers hidden structural groupings directly from features (X).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14B8A6"/>
                </a:solidFill>
              </a:defRPr>
            </a:pPr>
            <a:r>
              <a:t>Customer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59E0B"/>
                </a:solidFill>
                <a:latin typeface="Arial"/>
              </a:defRPr>
            </a:pPr>
            <a:r>
              <a:t>Semi-Supervised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Leverages small labeled dataset + huge unlabeled pool to reduce annotation costs.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F59E0B"/>
                </a:solidFill>
              </a:defRPr>
            </a:pPr>
            <a:r>
              <a:t>Image Annotation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A855F7"/>
                </a:solidFill>
                <a:latin typeface="Arial"/>
              </a:defRPr>
            </a:pPr>
            <a:r>
              <a:t>Reinforcement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Interactive trial-and-error. Agent optimizes policy using environment rewards.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A855F7"/>
                </a:solidFill>
              </a:defRPr>
            </a:pPr>
            <a:r>
              <a:t>Autonomous Driving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Regression: Predicting Continuous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Ordinary Least Squares (OLS)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Equation: y_hat = theta_0 + theta_1 * x_1 + ...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Minimize Mean Squared Error (MSE) cost function.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Uses Gradient Descent for iterative parameter optimization.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Prone to overfitting if features contain significant multicollinearity or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Regularized Regression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Ridge (L2 Penalty): Adds lambda * sum(theta_j^2) to loss.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  - Constrains coefficients, decreasing variance.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Lasso (L1 Penalty): Adds lambda * sum(|theta_j|) to loss.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  - Forces negligible features to zero, performing automatic feature selection.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Crucial for high-dimensional data with redundant inputs.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Classification: Binary &amp; Multi-Class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Logistic Regression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Maps outputs into probabilities using the Sigmoid curve: 1 / (1 + e^-z). Optimizes log loss to establish boundaries.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3756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K-Nearest Neighbors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Non-parametric lazy learner. Classifies samples based on distance voting (e.g. Euclidean) of K nearest points.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33756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59E0B"/>
                </a:solidFill>
                <a:latin typeface="Arial"/>
              </a:defRPr>
            </a:pPr>
            <a:r>
              <a:t>Support Vector Machines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Identifies the separating hyperplane with the maximum margin. Employs the Kernel Trick for non-linear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Tree-Based Models &amp; Bagging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Decision Trees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Split features recursively to maximize homogeneity.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Splitting Metric: Entropy (Information Gain) or Gini Impurity.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Highly intuitive and easy to interpret (rules can be visualized).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Prone to overfitting (creates deep, highly specific trees).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Random Forest (Bagging)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Ensemble of independent Decision Trees trained in parallel.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Bootstrapping: Each tree trains on a random subset of rows.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Feature Subspacing: Each split considers a random subset of columns.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Averages individual trees (reduces variance/overfitting).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Boosting Paradigms &amp; XGBoost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Boosting Concept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Sequential learning: Models are trained step-by-step.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Each tree fits the residual errors of prior models.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Reduces bias (improves fit on complex datasets).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Requires careful learning rate (shrinkage) tuning.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XGBoost (Extreme Gradient Boosting)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Regularized boosting: Incorporates L1 &amp; L2 penalties.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Highly optimized for speed and parallel CPU usage.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Automatic handling of missing values and sparse features.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Typically dominates tabular data competitions.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Clustering: Grouping Unlabeled 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K-Means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Partitions data into K clusters. Centroids are updated iteratively to minimize within-cluster sum of squares (Inertia). Choose K via Elbow Method.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3756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Hierarchical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Constructs tree-like dendrograms. Agglomerative (bottom-up) merges closest pairs using linkage criteria (Ward, Single, Complete).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33756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59E0B"/>
                </a:solidFill>
                <a:latin typeface="Arial"/>
              </a:defRPr>
            </a:pPr>
            <a:r>
              <a:t>DBSCAN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Density-based grouping. Finds core, border, and noise points using eps (neighborhood radius) &amp; min_samples. Captures complex shapes.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Model Evaluation &amp; Generalization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Bias-Variance Tradeoff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Underfitting (High Bias): Model is too simple to capture patterns. Fails on train and test sets.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Overfitting (High Variance): Model captures noise as rules. Scores high on train set, poorly on test set.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Goal: Find the sweet spot minimizing total error.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K-Fold Cross-Validation: Splits data K times to obtain robust performance estimations.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Evaluation Metrics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• Regression Metrics: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  - MAE (Absolute scale), MSE/RMSE (Penalizes outliers), R-squared (variance explained).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• Classification Metrics (Confusion Matrix):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  - Accuracy: Overall correct predictions.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  - Precision: TP / (TP + FP) (Quality of Positives).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  - Recall: TP / (TP + FN) (Coverage of Positives).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  - F1-Score: Harmonic mean of Precision &amp; Recall.</a:t>
            </a:r>
          </a:p>
          <a:p>
            <a:pPr>
              <a:spcAft>
                <a:spcPts val="600"/>
              </a:spcAft>
              <a:defRPr sz="1400">
                <a:solidFill>
                  <a:srgbClr val="A1A1AA"/>
                </a:solidFill>
              </a:defRPr>
            </a:pPr>
            <a:r>
              <a:t>  - ROC-AUC: Ability to distinguish classes.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MACHINE LEARNING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Teaching Strategy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66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4B8A6"/>
                </a:solidFill>
                <a:latin typeface="Arial"/>
              </a:defRPr>
            </a:pPr>
            <a:r>
              <a:t>Recommended Lecture Structure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1. Start with Paradigms: Make students classify everyday examples manually.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2. Regression vs. Classification: Differentiate numeric forecasting vs. discrete categorization.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3. Mathematics to Code: Show the formulas (Lasso, Logistic) side-by-side with scikit-learn models.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4. Emphasize Evaluation: A model scoring 99% accuracy on training data is almost always overfit.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5. Hands-on labs: Have students tune K-Means centroids or Random Forest depths on standard datasets (Iris/Titanic).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