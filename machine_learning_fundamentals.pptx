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5400" b="1">
                <a:solidFill>
                  <a:srgbClr val="F8FAFC"/>
                </a:solidFill>
                <a:latin typeface="Arial"/>
              </a:defRPr>
            </a:pPr>
            <a:r>
              <a:t>Fundamentals of</a:t>
            </a:r>
            <a:br/>
            <a:r>
              <a:t>Machine Learning</a:t>
            </a:r>
          </a:p>
          <a:p>
            <a:pPr>
              <a:spcAft>
                <a:spcPts val="1000"/>
              </a:spcAft>
              <a:defRPr sz="2000">
                <a:solidFill>
                  <a:srgbClr val="14B8A6"/>
                </a:solidFill>
                <a:latin typeface="Arial"/>
              </a:defRPr>
            </a:pPr>
            <a:r>
              <a:t>A Step-by-Step Teaching Curriculum &amp; Core Models Guide</a:t>
            </a:r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Instructor Slide Deck  •  Supervised, Unsupervised, Ensembles &amp; LLMs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1: INTRODUCTION TO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The Paradigm Shift: Rules vs.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4B8A6"/>
                </a:solidFill>
                <a:latin typeface="Arial"/>
              </a:defRPr>
            </a:pPr>
            <a:r>
              <a:t>Traditional Software Engineering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Human developer codes logical rules explicitly.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System applies rules directly to inputs to yield answers.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Highly deterministic but difficult to scale for complex patterns like vision or natural language.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Example:</a:t>
            </a:r>
            <a:br/>
            <a:r>
              <a:t>  If 'free' and 'money' in text: mark as spam.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6366F1"/>
                </a:solidFill>
                <a:latin typeface="Arial"/>
              </a:defRPr>
            </a:pPr>
            <a:r>
              <a:t>Machine Learning Paradigm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Algorithm accepts raw data paired with historical outcomes.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Model self-optimizes internal parameters to map X to y.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Excels at multi-variable high-dimensional datasets that defy simple rule creation.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Example:</a:t>
            </a:r>
            <a:br/>
            <a:r>
              <a:t>  Analyze millions of emails to extract probabilistic spam indicators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2: LEARNING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The Four Machine Learning Paradigms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366F1"/>
                </a:solidFill>
                <a:latin typeface="Arial"/>
              </a:defRPr>
            </a:pPr>
            <a:r>
              <a:t>Supervised</a:t>
            </a:r>
          </a:p>
          <a:p>
            <a:pPr>
              <a:spcAft>
                <a:spcPts val="2400"/>
              </a:spcAft>
              <a:defRPr sz="1400">
                <a:solidFill>
                  <a:srgbClr val="A1A1AA"/>
                </a:solidFill>
              </a:defRPr>
            </a:pPr>
            <a:r>
              <a:t>Labeled data drives training. Target labels (y) are paired with features (X).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Example Use Case:</a:t>
            </a:r>
          </a:p>
          <a:p>
            <a:pPr>
              <a:defRPr sz="1300" i="1">
                <a:solidFill>
                  <a:srgbClr val="6366F1"/>
                </a:solidFill>
              </a:defRPr>
            </a:pPr>
            <a:r>
              <a:t>Credit Scoring,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645920"/>
            <a:ext cx="237744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Unsupervised</a:t>
            </a:r>
          </a:p>
          <a:p>
            <a:pPr>
              <a:spcAft>
                <a:spcPts val="2400"/>
              </a:spcAft>
              <a:defRPr sz="1400">
                <a:solidFill>
                  <a:srgbClr val="A1A1AA"/>
                </a:solidFill>
              </a:defRPr>
            </a:pPr>
            <a:r>
              <a:t>Unlabeled data. Discovers hidden structural groupings directly from features (X).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Example Use Case:</a:t>
            </a:r>
          </a:p>
          <a:p>
            <a:pPr>
              <a:defRPr sz="1300" i="1">
                <a:solidFill>
                  <a:srgbClr val="14B8A6"/>
                </a:solidFill>
              </a:defRPr>
            </a:pPr>
            <a:r>
              <a:t>Customer Clustering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237744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59E0B"/>
                </a:solidFill>
                <a:latin typeface="Arial"/>
              </a:defRPr>
            </a:pPr>
            <a:r>
              <a:t>Semi-Supervised</a:t>
            </a:r>
          </a:p>
          <a:p>
            <a:pPr>
              <a:spcAft>
                <a:spcPts val="2400"/>
              </a:spcAft>
              <a:defRPr sz="1400">
                <a:solidFill>
                  <a:srgbClr val="A1A1AA"/>
                </a:solidFill>
              </a:defRPr>
            </a:pPr>
            <a:r>
              <a:t>Leverages small labeled dataset + huge unlabeled pool to reduce annotation costs.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Example Use Case:</a:t>
            </a:r>
          </a:p>
          <a:p>
            <a:pPr>
              <a:defRPr sz="1300" i="1">
                <a:solidFill>
                  <a:srgbClr val="F59E0B"/>
                </a:solidFill>
              </a:defRPr>
            </a:pPr>
            <a:r>
              <a:t>Image Annotation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645920"/>
            <a:ext cx="237744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A855F7"/>
                </a:solidFill>
                <a:latin typeface="Arial"/>
              </a:defRPr>
            </a:pPr>
            <a:r>
              <a:t>Reinforcement</a:t>
            </a:r>
          </a:p>
          <a:p>
            <a:pPr>
              <a:spcAft>
                <a:spcPts val="2400"/>
              </a:spcAft>
              <a:defRPr sz="1400">
                <a:solidFill>
                  <a:srgbClr val="A1A1AA"/>
                </a:solidFill>
              </a:defRPr>
            </a:pPr>
            <a:r>
              <a:t>Interactive trial-and-error. Agent optimizes policy using environment rewards.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Example Use Case:</a:t>
            </a:r>
          </a:p>
          <a:p>
            <a:pPr>
              <a:defRPr sz="1300" i="1">
                <a:solidFill>
                  <a:srgbClr val="A855F7"/>
                </a:solidFill>
              </a:defRPr>
            </a:pPr>
            <a:r>
              <a:t>Autonomous Driving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3: SUPERVISED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Regression: Predicting Continuous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Continuous Model Formulation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Ordinary Least Squares (OLS): Fits a linear equation: y_hat = theta_0 + theta_1 * x_1 + ...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Cost Function: Minimizes Mean Squared Error (MSE) to align the regression line.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L2 Regularization (Ridge): Adds penalty lambda * sum(theta^2). Shrinks weights close to zero, decreasing variance.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L1 Regularization (Lasso): Adds penalty lambda * sum(|theta|). Drives coefficients to exactly zero (Soft-Thresholding), doing automatic feature selection.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Framework OLS vs. Ridge vs. Lasso on housing per-sq-ft.</a:t>
            </a:r>
          </a:p>
        </p:txBody>
      </p:sp>
      <p:pic>
        <p:nvPicPr>
          <p:cNvPr id="6" name="Picture 5" descr="examples_1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25040"/>
            <a:ext cx="4846320" cy="3230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4: SUPERVISED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Classification: Categorizing Observations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Decision Boundary Approaches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Logistic Regression: Maps inputs to probabilities using the Sigmoid function: 1 / (1 + e^-z).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K-Nearest Neighbors (KNN): Non-parametric model. Classifies a query point based on distance-weighted votes of its K closest neighbors.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Support Vector Machines (SVM): Finds a hyperplane that maximizes the margin between classes. Employs the Kernel Trick for non-linear boundaries.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Naive Bayes: Probabilistic classifier based on Bayes Theorem. Assumes strong conditional independence among features.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Multi-class decision boundaries of Scikit-Learn models on the Iris dataset.</a:t>
            </a:r>
          </a:p>
        </p:txBody>
      </p:sp>
      <p:pic>
        <p:nvPicPr>
          <p:cNvPr id="6" name="Picture 5" descr="classification_decision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4: SUPERVISED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Distance Metrics &amp; Vector Spatial Relations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Quantifying Geometric Closeness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Euclidean Distance: Straight-line (L2 norm) distance. Sensitive to large coordinate deviations.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Manhattan Distance: Grid-based (L1 norm) distance. Sum of absolute differences along coordinate axes.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Cosine Similarity: Measures the angular alignment between two vectors. Independent of vector magnitude (widely used in text/embeddings).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Chebyshev Distance: Maximum absolute coordinate difference (L-infinity norm).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Distance metric bounds (Circle, Diamond, Square) in a 2D coordinate space.</a:t>
            </a:r>
          </a:p>
        </p:txBody>
      </p:sp>
      <p:pic>
        <p:nvPicPr>
          <p:cNvPr id="6" name="Picture 5" descr="distanc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4: SUPERVISED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Tree-Based Models &amp; Bagging Ensembles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Recursive Splits &amp; Forest Aggregation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Decision Trees: Splits features recursively to maximize sample purity.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Purity Metrics: Evaluated using Gini Impurity or Entropy (Information Gain). Highly prone to overfitting.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Random Forest Ensemble: Trains multiple independent trees in parallel.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Bootstrapping: Each tree is trained on a random subset of rows (drawn with replacement).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Feature Subspacing: Selects a random subset of features (e.g. sqrt(D)) at each split to decorrelate tree errors.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Decision Tree splits vs. Random Forest averaged boundary.</a:t>
            </a:r>
          </a:p>
        </p:txBody>
      </p:sp>
      <p:pic>
        <p:nvPicPr>
          <p:cNvPr id="6" name="Picture 5" descr="examples_4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01983"/>
            <a:ext cx="4846320" cy="20769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5: ENSEMBLE LEARNING &amp;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Boosting Paradigms &amp; XGBoost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Sequential Optimization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Sequential Learning: Weak learners (e.g. shallow decision trees) are trained sequentially rather than in parallel.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Residual Fitting: Each successive tree is trained to predict the residual errors (gradients) of the cumulative ensemble.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XGBoost (Extreme Gradient Boosting): Highly optimized library.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Regularized Objective: Incorporates L1 &amp; L2 parameter constraints directly into the split objective.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Implementation: Employs parallel split searches, block structures, and handles missing/sparse data automatically.</a:t>
            </a:r>
          </a:p>
        </p:txBody>
      </p:sp>
      <p:pic>
        <p:nvPicPr>
          <p:cNvPr id="6" name="Picture 5" descr="bagging_vs_bo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6: 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Clustering: Grouping Unlabeled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Unsupervised Spatial Grouping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K-Means: Partitions data into K clusters. Iteratively updates cluster centroids to minimize within-cluster sum of squares (Inertia).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Hierarchical Clustering: Builds nested tree structures (dendrograms) via agglomerative (bottom-up) merges.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DBSCAN: Density-based algorithm. Groups core points within radius Eps having min_samples. Isolates outliers as noise.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Scikit-Learn K-Means customer segmentation showing centroids and color-mapped clusters.</a:t>
            </a:r>
          </a:p>
        </p:txBody>
      </p:sp>
      <p:pic>
        <p:nvPicPr>
          <p:cNvPr id="6" name="Picture 5" descr="examples_6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25040"/>
            <a:ext cx="4846320" cy="3230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7: EVALUATION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Model Evaluation &amp; Generalization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Validation &amp; Performance Metrics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Bias-Variance Tradeoff: Underfitting (High Bias) vs. Overfitting (High Variance). Goal is minimizing total test error.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K-Fold Cross-Validation: Splits data into K folds, cycling train/test roles to obtain robust performance bounds.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Classification Metrics: Derived from the Confusion Matrix.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Precision: TP / (TP + FP) (Quality of positive predictions).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Recall: TP / (TP + FN) (Coverage of actual positive samples).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F1-Score: Harmonic mean of Precision and Recall.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ROC-AUC: True Positive vs. False Positive rate probability area.</a:t>
            </a:r>
          </a:p>
        </p:txBody>
      </p:sp>
      <p:pic>
        <p:nvPicPr>
          <p:cNvPr id="6" name="Picture 5" descr="examples_8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01983"/>
            <a:ext cx="4846320" cy="20769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8: CODE WALKTHROUGHS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Framework vs. From-Scratch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Pedagogical Implementation Strategy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Dual-Path Curriculum: Every algorithm is explored via two implementations: Scikit-Learn and Pure Python.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Framework Path: Teaches APIs, hyperparameter tuning, pipelines, and industry best practices.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From-Scratch Path: Avoids libraries. Uses standard lists and math functions to write loops, gradients, and Gini calculations.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De-mystifying the 'Black Box': Solidifies mathematical equations directly into concrete, readable code.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Pure Python Gradient Descent line-fitting convergence over epochs.</a:t>
            </a:r>
          </a:p>
        </p:txBody>
      </p:sp>
      <p:pic>
        <p:nvPicPr>
          <p:cNvPr id="6" name="Picture 5" descr="scratch_1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01983"/>
            <a:ext cx="4846320" cy="20769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9: LLMS &amp;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Tokenization: Byte Pair Encoding (BPE)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Subword Text Segmentation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Flaws of Word/Char Tokenizers: Massive vocabulary sizes (memory heavy) or inability to handle unseen out-of-vocabulary (OOV) words.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BPE Concept: Dynamically merges the most frequent adjacent byte/character pairs into new subword units.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Algorithm Steps: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1. Initialize vocabulary with individual characters + '&lt;/w&gt;' marker.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2. Count frequencies of adjacent token pairs (bigrams) in the corpus.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3. Merge the most frequent bigram and add it to the vocabulary.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4. Repeat for N merge iterations.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Vocabulary size growth vs. BPE merge rules application.</a:t>
            </a:r>
          </a:p>
        </p:txBody>
      </p:sp>
      <p:pic>
        <p:nvPicPr>
          <p:cNvPr id="6" name="Picture 5" descr="llm_1_bpe_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94280"/>
            <a:ext cx="484632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9: LLMS &amp;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Vector Semantics: Word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Continuous Word Semantics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Embedding Concept: Maps raw strings to dense, low-dimensional continuous vectors where geometric closeness represents semantic meaning.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Word2Vec Skip-gram: Neural network trained to predict context words given a target input word.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Negative Sampling Loss: Avoids expensive full softmax by training a binary classifier on positive context pairs vs. random negative pairs.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Optimization: Adjusts embedding weights using SGD, forcing related terms (e.g. models/networks) to cluster together.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Trained 2D Word2Vec scatter plot showing semantic clusters.</a:t>
            </a:r>
          </a:p>
        </p:txBody>
      </p:sp>
      <p:pic>
        <p:nvPicPr>
          <p:cNvPr id="6" name="Picture 5" descr="llm_2_word2v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032760"/>
            <a:ext cx="484632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9: LLMS &amp;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The Encoder: Self-Attention &amp; Positional Encoding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Parallel Contextual Encoding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Positional Encoding: Adds sine/cosine wave patterns to input embeddings to preserve token sequence order.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Scaled Dot-Product Self-Attention: Projects input matrices into Query (Q), Key (K), and Value (V) representations.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Alignment Formula: Attention(Q, K, V) = Softmax(Q K^T / sqrt(d_k)) V. Scales by sqrt(d_k) to prevent gradient vanishing.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Context Resolution: Dynamically shifts a word's vector representation based on surrounding tokens (e.g. 'bank' of river vs. money).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Sinusoidal Positional Encoding matrix heatmap.</a:t>
            </a:r>
          </a:p>
        </p:txBody>
      </p:sp>
      <p:pic>
        <p:nvPicPr>
          <p:cNvPr id="6" name="Picture 5" descr="llm_3_positional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23110"/>
            <a:ext cx="4846320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9: LLMS &amp;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The Decoder: Causal Masking &amp; Cross-Attention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Autoregressive Target Generation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Autoregressive Generation: Predicts tokens sequentially, appending prior outputs as inputs for successive steps.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Causal Masking: Adds a lower-triangular mask (-infinity for future positions) to attention scores prior to softmax.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Look-Ahead Prevention: Mathematically sets attention weights to future tokens to exactly 0, preventing future-leakage.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Encoder-Decoder Cross-Attention: Decoder queries (Q) attend to Encoder keys (K) and values (V), linking target to source.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Decoder Causal Mask lower-triangular attention boundaries.</a:t>
            </a:r>
          </a:p>
        </p:txBody>
      </p:sp>
      <p:pic>
        <p:nvPicPr>
          <p:cNvPr id="6" name="Picture 5" descr="llm_4_causal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63486"/>
            <a:ext cx="4846320" cy="41539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9: LLMS &amp;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End-to-End Seq2Seq Transformer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Bilingual Machine Translation Model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Seq2Seq Architecture: Couples an Encoder (source comprehension) with a Decoder (target autoregressive generation).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Pure Python Implementation: Standard tokenizer, embeddings, encoder self-attention, and decoder cross-attention blocks.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Greedy Decoding Loop: Iterates forward passes, selecting the token with the maximum probability until a stop token is reached.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Teacher Forcing: Feed actual ground truth targets into the decoder during training to stabilize parameters.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Attention alignment weights mapping English to Spanish.</a:t>
            </a:r>
          </a:p>
        </p:txBody>
      </p:sp>
      <p:pic>
        <p:nvPicPr>
          <p:cNvPr id="6" name="Picture 5" descr="llm_5_attention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23110"/>
            <a:ext cx="4846320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APPENDIX: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Appendix: Centroid, Hyperplane &amp; Residuals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Mathematical Fundamentals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Centroid: The geometric center of a cluster of coordinates. Computed as the mean vector: mu = 1/N * sum(x_i).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Hyperplane: A linear boundary of dimension D-1 that separates a D-dimensional space: w^T * x + b = 0.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Margin: The distance between separating hyperplane and the closest support vectors: 2 / ||w||.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Residual: The difference between actual and predicted target values: e_i = y_i - y_hat_i.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Side-by-side plots of Centroid coordinate mean, SVM margins/support-vectors, and OLS regression residuals.</a:t>
            </a:r>
          </a:p>
        </p:txBody>
      </p:sp>
      <p:pic>
        <p:nvPicPr>
          <p:cNvPr id="6" name="Picture 5" descr="glossary_math_conce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APPENDIX: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Appendix: Normalization &amp; Regularization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Scaling and Penalty Geometry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Normalization: Rescaling features to a shared coordinate bounds.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Min-Max Scaling: Maps features to a fixed [0, 1] range.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Standardization: Transforms features to have mean=0 and std=1.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Regularization: Constrains model parameter magnitudes to prevent overfitting.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Lasso (L1): Adds absolute weight penalty. Creates diamond-shaped boundaries that drive weights to exactly 0 (sparsity).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Ridge (L2): Adds squared weight penalty. Circular boundaries that shrink weights close to 0 but keep all features active.</a:t>
            </a:r>
          </a:p>
        </p:txBody>
      </p:sp>
      <p:pic>
        <p:nvPicPr>
          <p:cNvPr id="6" name="Picture 5" descr="glossary_normalization_regul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APPENDIX: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Appendix: Optimization &amp; Bias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Gradients and Algorithmic Assumptions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Gradient: Vector of partial derivatives pointing in the direction of steepest rate of function increase: [df/dw_1, ..., df/dw_D].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Gradient Descent: Updates weights along negative gradient: w = w - eta * grad.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Inductive Bias: Mathematical assumptions a model makes to generalize to unseen inputs (e.g., linear vs. locality bias).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Lazy Learning: Defers generalization until query time (e.g. KNN). Features zero training time but slow prediction.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Gradient 3D valley, linear/locality boundaries, KNN distance query.</a:t>
            </a:r>
          </a:p>
        </p:txBody>
      </p:sp>
      <p:pic>
        <p:nvPicPr>
          <p:cNvPr id="6" name="Picture 5" descr="glossary_gradient_bias_laz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APPENDIX: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Appendix: LLM Core Terminology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Transformer Building Blocks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Token: The basic subword unit mapping to vocabulary IDs.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Self-Attention: Maps query (Q) alignments to keys (K) to weight values (V).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Causal Mask: Restricts attention to past positions.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Autoregressive Decoding: Appends output tokens back to input sequence.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Temperature: Scaling factor applied to logits before softmax.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Low Temp (T -&gt; 0): Peakier probabilities, deterministic generation.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High Temp (T -&gt; infinity): Uniform probabilities, highly random/creative.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Token IDs, Self-Attention nodes, Mask heatmap, and Temperature curves.</a:t>
            </a:r>
          </a:p>
        </p:txBody>
      </p:sp>
      <p:pic>
        <p:nvPicPr>
          <p:cNvPr id="6" name="Picture 5" descr="glossary_llm_conce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COURSE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Teaching Strategy &amp; Lecture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4B8A6"/>
                </a:solidFill>
                <a:latin typeface="Arial"/>
              </a:defRPr>
            </a:pPr>
            <a:r>
              <a:t>Recommended Lecture Structure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1. Start with Paradigms: Make students classify everyday examples manually.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2. Regression vs. Classification: Differentiate numeric forecasting vs. discrete categorization.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3. Mathematics to Code: Show the formulas (Lasso, Logistic) side-by-side with scikit-learn models.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4. Emphasize Evaluation: A model scoring 99% accuracy on training data is almost always overfit.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5. Hands-on labs: Have students tune K-Means centroids or Random Forest depths on standard datasets (Iris/Titanic).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6. Introduce Generative AI: Transition from embeddings (Word2Vec) to sequential comprehension (Transformers).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