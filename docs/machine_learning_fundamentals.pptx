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5400" b="1">
                <a:solidFill>
                  <a:srgbClr val="F8FAFC"/>
                </a:solidFill>
                <a:latin typeface="Arial"/>
              </a:defRPr>
            </a:pPr>
            <a:r>
              <a:t>Fundamentals of</a:t>
            </a:r>
            <a:br/>
            <a:r>
              <a:t>Machine Learning</a:t>
            </a:r>
          </a:p>
          <a:p>
            <a:pPr>
              <a:spcAft>
                <a:spcPts val="1000"/>
              </a:spcAft>
              <a:defRPr sz="2000">
                <a:solidFill>
                  <a:srgbClr val="14B8A6"/>
                </a:solidFill>
                <a:latin typeface="Arial"/>
              </a:defRPr>
            </a:pPr>
            <a:r>
              <a:t>A Step-by-Step Teaching Curriculum &amp; Core Models Guide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Instructor Slide Deck  •  Supervised, Unsupervised, Ensembles &amp;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1: INTRODUCTION TO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Paradigm Shift: Rules vs.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Traditional Software Engineering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Human developer codes logical rules explicitly.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System applies rules directly to inputs to yield answers.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Highly deterministic but difficult to scale for complex patterns like vision or natural language.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Example:</a:t>
            </a:r>
            <a:br/>
            <a:r>
              <a:t>  If 'free' and 'money' in text: mark as spam.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366F1"/>
                </a:solidFill>
                <a:latin typeface="Arial"/>
              </a:defRPr>
            </a:pPr>
            <a:r>
              <a:t>Machine Learning Paradigm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Algorithm accepts raw data paired with historical outcomes.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Model self-optimizes internal parameters to map X to y.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Excels at multi-variable high-dimensional datasets that defy simple rule creation.</a:t>
            </a:r>
          </a:p>
          <a:p>
            <a:pPr>
              <a:spcAft>
                <a:spcPts val="1000"/>
              </a:spcAft>
              <a:defRPr sz="1500">
                <a:solidFill>
                  <a:srgbClr val="A1A1AA"/>
                </a:solidFill>
              </a:defRPr>
            </a:pPr>
            <a:r>
              <a:t>• Example:</a:t>
            </a:r>
            <a:br/>
            <a:r>
              <a:t>  Analyze millions of emails to extract probabilistic spam indicators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2: LEARNING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Four Machine Learning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366F1"/>
                </a:solidFill>
                <a:latin typeface="Arial"/>
              </a:defRPr>
            </a:pPr>
            <a:r>
              <a:t>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Labeled data drives training. Target labels (y) are paired with features (X).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6366F1"/>
                </a:solidFill>
              </a:defRPr>
            </a:pPr>
            <a:r>
              <a:t>Credit Scoring,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Unsupervised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Unlabeled data. Discovers hidden structural groupings directly from features (X).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14B8A6"/>
                </a:solidFill>
              </a:defRPr>
            </a:pPr>
            <a:r>
              <a:t>Customer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  <a:latin typeface="Arial"/>
              </a:defRPr>
            </a:pPr>
            <a:r>
              <a:t>Semi-Supervised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Leverages small labeled dataset + huge unlabeled pool to reduce annotation costs.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F59E0B"/>
                </a:solidFill>
              </a:defRPr>
            </a:pPr>
            <a:r>
              <a:t>Image Annotation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45920"/>
            <a:ext cx="23774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855F7"/>
                </a:solidFill>
                <a:latin typeface="Arial"/>
              </a:defRPr>
            </a:pPr>
            <a:r>
              <a:t>Reinforcement</a:t>
            </a:r>
          </a:p>
          <a:p>
            <a:pPr>
              <a:spcAft>
                <a:spcPts val="2400"/>
              </a:spcAft>
              <a:defRPr sz="1400">
                <a:solidFill>
                  <a:srgbClr val="A1A1AA"/>
                </a:solidFill>
              </a:defRPr>
            </a:pPr>
            <a:r>
              <a:t>Interactive trial-and-error. Agent optimizes policy using environment rewards.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Example Use Case:</a:t>
            </a:r>
          </a:p>
          <a:p>
            <a:pPr>
              <a:defRPr sz="1300" i="1">
                <a:solidFill>
                  <a:srgbClr val="A855F7"/>
                </a:solidFill>
              </a:defRPr>
            </a:pPr>
            <a:r>
              <a:t>Autonomous Driving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3: SUPERVISED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Regression: Predicting Continuous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Continuous Model Formulation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Ordinary Least Squares (OLS): Fits a linear equation: y_hat = theta_0 + theta_1 * x_1 + ...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Cost Function: Minimizes Mean Squared Error (MSE) to align the regression line.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L2 Regularization (Ridge): Adds penalty lambda * sum(theta^2). Shrinks weights close to zero, decreasing variance.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L1 Regularization (Lasso): Adds penalty lambda * sum(|theta|). Drives coefficients to exactly zero (Soft-Thresholding), doing automatic feature selection.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Framework OLS vs. Ridge vs. Lasso on housing per-sq-ft.</a:t>
            </a:r>
          </a:p>
        </p:txBody>
      </p:sp>
      <p:pic>
        <p:nvPicPr>
          <p:cNvPr id="6" name="Picture 5" descr="examples_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2504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Classification: Categorizing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Decision Boundary Approaches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Logistic Regression: Maps inputs to probabilities using the Sigmoid function: 1 / (1 + e^-z).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K-Nearest Neighbors (KNN): Non-parametric model. Classifies a query point based on distance-weighted votes of its K closest neighbors.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Support Vector Machines (SVM): Finds a hyperplane that maximizes the margin between classes. Employs the Kernel Trick for non-linear boundaries.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Naive Bayes: Probabilistic classifier based on Bayes Theorem. Assumes strong conditional independence among features.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Multi-class decision boundaries of Scikit-Learn models on the Iris dataset.</a:t>
            </a:r>
          </a:p>
        </p:txBody>
      </p:sp>
      <p:pic>
        <p:nvPicPr>
          <p:cNvPr id="6" name="Picture 5" descr="classification_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Distance Metrics &amp; Vector Spatial Relations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Quantifying Geometric Closeness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Euclidean Distance: Straight-line (L2 norm) distance. Sensitive to large coordinate deviations.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Manhattan Distance: Grid-based (L1 norm) distance. Sum of absolute differences along coordinate axes.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Cosine Similarity: Measures the angular alignment between two vectors. Independent of vector magnitude (widely used in text/embeddings).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Chebyshev Distance: Maximum absolute coordinate difference (L-infinity norm).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Distance metric bounds (Circle, Diamond, Square) in a 2D coordinate space.</a:t>
            </a:r>
          </a:p>
        </p:txBody>
      </p:sp>
      <p:pic>
        <p:nvPicPr>
          <p:cNvPr id="6" name="Picture 5" descr="dist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4: SUPERVISED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Tree-Based Models &amp; Bagging Ensembles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Recursive Splits &amp; Forest Aggregation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Decision Trees: Splits features recursively to maximize sample purity.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Purity Metrics: Evaluated using Gini Impurity or Entropy (Information Gain). Highly prone to overfitting.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Random Forest Ensemble: Trains multiple independent trees in parallel.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Bootstrapping: Each tree is trained on a random subset of rows (drawn with replacement).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Feature Subspacing: Selects a random subset of features (e.g. sqrt(D)) at each split to decorrelate tree errors.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Decision Tree splits vs. Random Forest averaged boundary.</a:t>
            </a:r>
          </a:p>
        </p:txBody>
      </p:sp>
      <p:pic>
        <p:nvPicPr>
          <p:cNvPr id="6" name="Picture 5" descr="examples_4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5: ENSEMBLE LEARNING &amp;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Boosting Paradigms &amp; 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Sequential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Sequential Learning: Weak learners (e.g. shallow decision trees) are trained sequentially rather than in parallel.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Residual Fitting: Each successive tree is trained to predict the residual errors (gradients) of the cumulative ensemble.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XGBoost (Extreme Gradient Boosting): Highly optimized library.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Regularized Objective: Incorporates L1 &amp; L2 parameter constraints directly into the split objective.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Implementation: Employs parallel split searches, block structures, and handles missing/sparse data automatically.</a:t>
            </a:r>
          </a:p>
        </p:txBody>
      </p:sp>
      <p:pic>
        <p:nvPicPr>
          <p:cNvPr id="6" name="Picture 5" descr="bagging_vs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6: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Clustering: Grouping Unlabeled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Unsupervised Spatial Grouping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K-Means: Partitions data into K clusters. Iteratively updates cluster centroids to minimize within-cluster sum of squares (Inertia).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Hierarchical Clustering: Builds nested tree structures (dendrograms) via agglomerative (bottom-up) merges.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DBSCAN: Density-based algorithm. Groups core points within radius Eps having min_samples. Isolates outliers as noise.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Scikit-Learn K-Means customer segmentation showing centroids and color-mapped clusters.</a:t>
            </a:r>
          </a:p>
        </p:txBody>
      </p:sp>
      <p:pic>
        <p:nvPicPr>
          <p:cNvPr id="6" name="Picture 5" descr="examples_6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2504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7: EVALUATION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Model Evaluation &amp;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Validation &amp; Performance Metrics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Bias-Variance Tradeoff: Underfitting (High Bias) vs. Overfitting (High Variance). Goal is minimizing total test error.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K-Fold Cross-Validation: Splits data into K folds, cycling train/test roles to obtain robust performance bounds.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Classification Metrics: Derived from the Confusion Matrix.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Precision: TP / (TP + FP) (Quality of positive predictions).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Recall: TP / (TP + FN) (Coverage of actual positive samples).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F1-Score: Harmonic mean of Precision and Recall.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ROC-AUC: True Positive vs. False Positive rate probability area.</a:t>
            </a:r>
          </a:p>
        </p:txBody>
      </p:sp>
      <p:pic>
        <p:nvPicPr>
          <p:cNvPr id="6" name="Picture 5" descr="examples_8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8: CODE WALKTHROUGHS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Framework vs. From-Scratch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Pedagogical Implementation Strategy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Dual-Path Curriculum: Every algorithm is explored via two implementations: Scikit-Learn and Pure Python.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Framework Path: Teaches APIs, hyperparameter tuning, pipelines, and industry best practices.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From-Scratch Path: Avoids libraries. Uses standard lists and math functions to write loops, gradients, and Gini calculations.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De-mystifying the 'Black Box': Solidifies mathematical equations directly into concrete, readable code.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Pure Python Gradient Descent line-fitting convergence over epochs.</a:t>
            </a:r>
          </a:p>
        </p:txBody>
      </p:sp>
      <p:pic>
        <p:nvPicPr>
          <p:cNvPr id="6" name="Picture 5" descr="scratch_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01983"/>
            <a:ext cx="4846320" cy="2076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DEEP LEARNING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Artificial Neuron (Perceptron)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Single Neuron Computation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Perceptron Concept: Mimics a biological neuron by summing weighted inputs and passing the result to an activation function.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Mathematical Formulation: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Pre-activation sum: z = Σ (w_i * x_i) + b = w^T * x + b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Activation output: y = φ(z) = φ(w^T * x + b)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Where w represents connection weights, and b is the bias.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AND Logic Gate Example (Linear Decision Boundary):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Parameters: w_1 = 1.0, w_2 = 1.0, b = -1.5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Activation φ(z): Step function (1 if z &gt;= 0, else 0)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Query [0, 0] -&gt; z = -1.5 -&gt; y = 0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Query [1, 0] -&gt; z = -0.5 -&gt; y = 0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Query [1, 1] -&gt; z = +0.5 -&gt; y = 1 (AND logic holds)</a:t>
            </a:r>
          </a:p>
        </p:txBody>
      </p:sp>
      <p:pic>
        <p:nvPicPr>
          <p:cNvPr id="6" name="Picture 5" descr="perceptr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DEEP LEARNING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Activation Functions &amp; Non-Linearity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47672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764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Sigmoid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Courier New"/>
              </a:defRPr>
            </a:pPr>
            <a:r>
              <a:t>φ(z) = 1 / (1 + e^-z)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Range: (0, 1)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φ'(z) = φ(z)(1 - φ(z))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Outputs represent probabilities.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Cons: Vanishing gradients.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47672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764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Tanh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Courier New"/>
              </a:defRPr>
            </a:pPr>
            <a:r>
              <a:t>φ(z) = tanh(z)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Range: (-1, 1)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φ'(z) = 1 - φ(z)^2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Zero-centered outputs help stabilize deep networks.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Cons: Vanishing gradients.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1947672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1764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ReLU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Courier New"/>
              </a:defRPr>
            </a:pPr>
            <a:r>
              <a:t>φ(z) = max(0, z)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Range: [0, ∞)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φ'(z) = 1 (z &gt; 0), else 0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Computationally cheap; resolves vanishing gradient.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Cons: Dying ReLU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1947672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1764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A855F7"/>
                </a:solidFill>
                <a:latin typeface="Arial"/>
              </a:defRPr>
            </a:pPr>
            <a:r>
              <a:t>Leaky ReLU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Courier New"/>
              </a:defRPr>
            </a:pPr>
            <a:r>
              <a:t>φ(z) = max(αz, z)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Range: (-∞, ∞)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φ'(z) = 1 (z &gt; 0), else α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Prevents dead neurons by keeping a small gradient.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Cons: Extra parameter 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1947672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17647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Softmax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Courier New"/>
              </a:defRPr>
            </a:pPr>
            <a:r>
              <a:t>P_i = e^z_i / Σ e^z_j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Range: (0, 1) (sums to 1)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Derivative: P_i(δ_ij - P_j)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Outputs normalized probabilities for classification.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• Usage: Final output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DEEP LEARNING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Deep Neural Networks (ANN / DNN)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Layered Feedforward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Multi-Layer Perceptron (MLP): Stacks layers of neurons together. Information flows forward from input, through hidden layers, to output.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Forward Propagation Equations (Layer l):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Pre-activation: z^[l] = W^[l] * a^[l-1] + b^[l]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Activation: a^[l] = g^[l](z^[l])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Where a^[0] = x (the raw input features).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W^[l] is the weight matrix of shape (n^[l] x n^[l-1]).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b^[l] is the bias vector of shape (n^[l] x 1).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g^[l] is the layer's activation function.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Universal Approximation Theorem: A feedforward network with a single hidden layer and non-linear activations can approximate any continuous function.</a:t>
            </a:r>
          </a:p>
        </p:txBody>
      </p:sp>
      <p:pic>
        <p:nvPicPr>
          <p:cNvPr id="6" name="Picture 5" descr="d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DEEP LEARNING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Backpropagation: Gradient Flow via Chain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Backward Error Propagation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Training Objective: Find weights and biases that minimize a loss function L(y, y_hat).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The Chain Rule: Calculates the sensitivity of loss to a specific weight: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∂L / ∂w_ij^[l] = (∂L / ∂a_i^[l]) * (∂a_i^[l] / ∂z_i^[l]) * (∂z_i^[l] / ∂w_ij^[l])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Error Term definition: δ_i^[l] = ∂L / ∂z_i^[l]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1. Output Layer Error (Layer L):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δ_i^[L] = (∂L / ∂a_i^[L]) * g'^[L](z_i^[L])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2. Hidden Layer Error (Layer l) propagated backward: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δ_j^[l] = (Σ (δ_k^[l+1] * w_kj^[l+1])) * g'^[l](z_j^[l])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3. Gradients calculation: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∂L / ∂w_ji^[l] = δ_j^[l] * a_i^[l-1]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∂L / ∂b_j^[l] = δ_j^[l]</a:t>
            </a:r>
          </a:p>
        </p:txBody>
      </p:sp>
      <p:pic>
        <p:nvPicPr>
          <p:cNvPr id="6" name="Picture 5" descr="backpropag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9: DEEP LEARNING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Convolutional Neural Networks (CNN)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Spatial Features &amp; Translation Invariance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Overfitting Challenge: Fully connected networks do not scale well to images. A 1000x1000 RGB image requires 3M inputs per neuron.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CNN Architectural Solutions: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1. Local Connectivity: Neurons connect only to small local patches.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2. Shared Weights: Kernels scan the entire input, sharing parameters.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Output Size Formula for Convolutional Layer: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O = floor((W - K + 2P) / S) + 1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W = input size, K = kernel size, P = padding, S = stride.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Pooling Layer: Reduces representation size and introduces invariance.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Max Pooling: Extracts the maximum value in a window.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Average Pooling: Computes the mean of the window.</a:t>
            </a:r>
          </a:p>
        </p:txBody>
      </p:sp>
      <p:pic>
        <p:nvPicPr>
          <p:cNvPr id="6" name="Picture 5" descr="c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Tokenization: Byte Pair Encoding (BPE)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Subword Text Segmentation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Flaws of Word/Char Tokenizers: Massive vocabulary sizes (memory heavy) or inability to handle unseen out-of-vocabulary (OOV) words.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BPE Concept: Dynamically merges the most frequent adjacent byte/character pairs into new subword units.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Algorithm Steps: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1. Initialize vocabulary with individual characters + '&lt;/w&gt;' marker.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2. Count frequencies of adjacent token pairs (bigrams) in the corpus.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3. Merge the most frequent bigram and add it to the vocabulary.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4. Repeat for N merge iterations.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Vocabulary size growth vs. BPE merge rules application.</a:t>
            </a:r>
          </a:p>
        </p:txBody>
      </p:sp>
      <p:pic>
        <p:nvPicPr>
          <p:cNvPr id="6" name="Picture 5" descr="llm_1_bpe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94280"/>
            <a:ext cx="484632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Vector Semantics: Word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Continuous Word Semantics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Embedding Concept: Maps raw strings to dense, low-dimensional continuous vectors where geometric closeness represents semantic meaning.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Word2Vec Skip-gram: Neural network trained to predict context words given a target input word.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Negative Sampling Loss: Avoids expensive full softmax by training a binary classifier on positive context pairs vs. random negative pairs.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Optimization: Trained using the Adam optimizer implemented from scratch. Uses adaptive learning rates for faster, more stable coordinate updates.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Trained 2D Word2Vec scatter plot showing semantic clusters.</a:t>
            </a:r>
          </a:p>
        </p:txBody>
      </p:sp>
      <p:pic>
        <p:nvPicPr>
          <p:cNvPr id="6" name="Picture 5" descr="llm_2_word2v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327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Transformer Network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Attention-Based Sequence Processing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Parallelization Breakthrough: Eliminates recurrence loops of RNNs/LSTMs. Processes all tokens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Core Encoder-Decoder Structure: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Encoder: Learns bidirectional contextual representations of the input sequence.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Decoder: Autoregressively generates output tokens, querying encoder keys and values.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Key Mechanisms: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Multi-Head Attention (MHA): Integrates multiple parallel self-attention views to capture complex context relations.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Residual Connections &amp; LayerNorm: Stabilize gradient flow in deep stacks.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Feed-Forward Networks (FFN): Applied pointwise to each token position.</a:t>
            </a:r>
          </a:p>
        </p:txBody>
      </p:sp>
      <p:pic>
        <p:nvPicPr>
          <p:cNvPr id="6" name="Picture 5" descr="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Encoder: Self-Attention &amp; Positional Encoding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Parallel Contextual Encoding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Positional Encoding: Adds sine/cosine wave patterns to input embeddings to preserve token sequence order.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Scaled Dot-Product Self-Attention: Projects input matrices into Query (Q), Key (K), and Value (V) representations.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Alignment Formula: Attention(Q, K, V) = Softmax(Q K^T / sqrt(d_k)) V. Scales by sqrt(d_k) to prevent gradient vanishing.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Context Resolution: Dynamically shifts a word's vector representation based on surrounding tokens (e.g. 'bank' of river vs. money).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Sinusoidal Positional Encoding matrix heatmap.</a:t>
            </a:r>
          </a:p>
        </p:txBody>
      </p:sp>
      <p:pic>
        <p:nvPicPr>
          <p:cNvPr id="6" name="Picture 5" descr="llm_3_positional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311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The Decoder: Causal Masking &amp; Cross-Attention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Autoregressive Target Generation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Autoregressive Generation: Predicts tokens sequentially, appending prior outputs as inputs for successive steps.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Causal Masking: Adds a lower-triangular mask (-infinity for future positions) to attention scores prior to softmax.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Look-Ahead Prevention: Mathematically sets attention weights to future tokens to exactly 0, preventing future-leakage.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Encoder-Decoder Cross-Attention: Decoder queries (Q) attend to Encoder keys (K) and values (V), linking target to source.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Decoder Causal Mask lower-triangular attention boundaries.</a:t>
            </a:r>
          </a:p>
        </p:txBody>
      </p:sp>
      <p:pic>
        <p:nvPicPr>
          <p:cNvPr id="6" name="Picture 5" descr="llm_4_causa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63486"/>
            <a:ext cx="4846320" cy="41539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10: LLMS &amp;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End-to-End Seq2Seq Transformer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Bilingual Machine Translation Model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Seq2Seq Architecture: Couples an Encoder (source comprehension) with a Decoder (target autoregressive generation).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Pure Python Implementation: Standard tokenizer, embeddings, encoder self-attention, and decoder cross-attention blocks.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Greedy Decoding Loop: Iterates forward passes, selecting the token with the maximum probability until a stop token is reached.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Teacher Forcing: Feed actual ground truth targets into the decoder during training to stabilize parameters.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Attention alignment weights mapping English to Spanish.</a:t>
            </a:r>
          </a:p>
        </p:txBody>
      </p:sp>
      <p:pic>
        <p:nvPicPr>
          <p:cNvPr id="6" name="Picture 5" descr="llm_5_attention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311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11: AGENTIC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Agentic AI: Core Concepts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Autonomous Reasoning Loops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Paradigm Shift: Moves from static text responses to dynamic reasoning agents acting as computer systems operators.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Core Components: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AI Agent: The controller managing history (memory) and execution loops.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Thought-Action-Observation Loop: The reasoning cycle (e.g. ReAct).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Atomic Tool: Low-level executable Python function or command.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Composite Skill: Orchestrated multi-step workflow in code.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Model Context Protocol (MCP): Open-standard communication layer.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Function Calling: Structured JSON exchange between Agent and LLM.</a:t>
            </a:r>
          </a:p>
        </p:txBody>
      </p:sp>
      <p:pic>
        <p:nvPicPr>
          <p:cNvPr id="6" name="Picture 5" descr="agentic_concept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11: AGENTIC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Runtime Introspection &amp; Tool Schemas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Automated Schema Registration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• Introspection Concept: Instead of manually writing error-prone JSON declarations, agent registries inspect code at runtime.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• Docstring Parsing: Scans descriptions using regular expressions to extract functional details and argument documentation.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• Signature Analysis: inspect.signature() inspects type annotations (e.g. str -&gt; STRING, int -&gt; INTEGER).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• Required vs Optional: Detects arguments lacking defaults to mark them as 'required' in the schema definition.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9E0B"/>
                </a:solidFill>
                <a:latin typeface="Arial"/>
              </a:defRPr>
            </a:pPr>
            <a:r>
              <a:t>Decorated Code to Schema Output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Courier New"/>
              </a:defRPr>
            </a:pPr>
            <a:r>
              <a:t># Python Function Definition:</a:t>
            </a:r>
            <a:br/>
            <a:r>
              <a:t>@tool</a:t>
            </a:r>
            <a:br/>
            <a:r>
              <a:t>def get_weather(city: str) -&gt; str:</a:t>
            </a:r>
            <a:br/>
            <a:r>
              <a:t>    """Fetches weather. Args: city: Target city"""</a:t>
            </a:r>
            <a:br/>
            <a:r>
              <a:t>    return f"Weather in {city}: 18°C"</a:t>
            </a:r>
            <a:br/>
            <a:br/>
            <a:r>
              <a:t># Generated JSON Tool Schema:</a:t>
            </a:r>
            <a:br/>
            <a:r>
              <a:t>{</a:t>
            </a:r>
            <a:br/>
            <a:r>
              <a:t>  "name": "get_weather",</a:t>
            </a:r>
            <a:br/>
            <a:r>
              <a:t>  "description": "Fetches weather...",</a:t>
            </a:r>
            <a:br/>
            <a:r>
              <a:t>  "parameters": {</a:t>
            </a:r>
            <a:br/>
            <a:r>
              <a:t>    "type": "OBJECT",</a:t>
            </a:r>
            <a:br/>
            <a:r>
              <a:t>    "properties": {</a:t>
            </a:r>
            <a:br/>
            <a:r>
              <a:t>      "city": {"type": "STRING", "description": "Target city"}</a:t>
            </a:r>
            <a:br/>
            <a:r>
              <a:t>    },</a:t>
            </a:r>
            <a:br/>
            <a:r>
              <a:t>    "required": ["city"]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11: AGENTIC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Composite Skills &amp; Dynamic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Encapsulating Local Workflows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Composite Skill Concept: Packages complex multi-step tasks to run locally, avoiding multiple remote network API roundtrips.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Skill Package Directory Layout: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Directory name maps to skill (e.g. skills/research_city/).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SKILL.md: YAML metadata defining schema parameters + instructions.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script.py: Local Python execution orchestrating underlying tools.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Dynamic Execution via exec():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Load script.py contents at runtime.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Inject local tools and kwargs into exec_globals/locals namespaces.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exec(script_code, globals, locals) runs code dynamically.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Capture and return the resulting value via result variable.</a:t>
            </a:r>
          </a:p>
        </p:txBody>
      </p:sp>
      <p:pic>
        <p:nvPicPr>
          <p:cNvPr id="6" name="Picture 5" descr="agentic_loop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MODULE 11: AGENTIC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Model Context Protocol (MCP)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Standardizing Tool Integration Interfaces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MCP Architecture: Open standard that decouples tools providers (servers) from AI applications (clients).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Three Core Actors in the Protocol: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1. MCP Client: Protocol consumer (e.g. IDE, AI agent host).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2. MCP Host: Runs the client session and orchestrates context.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  3. MCP Server: Provides tools, resources, and prompt templates.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Standardized Transport Mechanisms: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Stdio Transport: JSON-RPC over stdin/stdout (same-machine).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SSE Transport: Server-Sent Events stream + POST requests (network).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Benefits: Single protocol connects any agent to files, DBs, and APIs.</a:t>
            </a:r>
          </a:p>
        </p:txBody>
      </p:sp>
      <p:pic>
        <p:nvPicPr>
          <p:cNvPr id="6" name="Picture 5" descr="mcp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Centroid, Hyperplane &amp; Residuals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Mathematical Fundamentals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Centroid: The geometric center of a cluster of coordinates. Computed as the mean vector: mu = 1/N * sum(x_i).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Hyperplane: A linear boundary of dimension D-1 that separates a D-dimensional space: w^T * x + b = 0.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Margin: The distance between separating hyperplane and the closest support vectors: 2 / ||w||.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Residual: The difference between actual and predicted target values: e_i = y_i - y_hat_i.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Side-by-side plots of Centroid coordinate mean, SVM margins/support-vectors, and OLS regression residuals.</a:t>
            </a:r>
          </a:p>
        </p:txBody>
      </p:sp>
      <p:pic>
        <p:nvPicPr>
          <p:cNvPr id="6" name="Picture 5" descr="glossary_math_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Normalization &amp; Regularization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Scaling and Penalty Geometry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Normalization: Rescaling features to a shared coordinate bounds.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Min-Max Scaling: Maps features to a fixed [0, 1] range.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Standardization: Transforms features to have mean=0 and std=1.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Regularization: Constrains model parameter magnitudes to prevent overfitting.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Lasso (L1): Adds absolute weight penalty. Creates diamond-shaped boundaries that drive weights to exactly 0 (sparsity).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Ridge (L2): Adds squared weight penalty. Circular boundaries that shrink weights close to 0 but keep all features active.</a:t>
            </a:r>
          </a:p>
        </p:txBody>
      </p:sp>
      <p:pic>
        <p:nvPicPr>
          <p:cNvPr id="6" name="Picture 5" descr="glossary_normalization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Optimization &amp;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Gradients and Algorithmic Assumptions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Gradient: Vector of partial derivatives pointing in the direction of steepest rate of function increase: [df/dw_1, ..., df/dw_D].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Gradient Descent: Updates weights along negative gradient: w = w - eta * grad.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Adam Optimizer: Computes adaptive learning rates using first moment (momentum) and second moment (gradient variance). Scales updates per coordinate.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Inductive Bias: Mathematical assumptions a model makes to generalize to unseen inputs (e.g., linear vs. locality bias).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Lazy Learning: Defers generalization until query time (e.g. KNN). Features zero training time but slow prediction.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Gradient 3D valley, linear/locality boundaries, KNN distance query.</a:t>
            </a:r>
          </a:p>
        </p:txBody>
      </p:sp>
      <p:pic>
        <p:nvPicPr>
          <p:cNvPr id="6" name="Picture 5" descr="glossary_gradient_bias_laz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Appendix: LLM Core Terminology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Transformer Building Blocks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Token: The basic subword unit mapping to vocabulary IDs.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Self-Attention: Maps query (Q) alignments to keys (K) to weight values (V).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Causal Mask: Restricts attention to past positions.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Autoregressive Decoding: Appends output tokens back to input sequence.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Temperature: Scaling factor applied to logits before softmax.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Low Temp (T -&gt; 0): Peakier probabilities, deterministic generation.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    - High Temp (T -&gt; infinity): Uniform probabilities, highly random/creative.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Visual: Token IDs, Self-Attention nodes, Mask heatmap, and Temperature curves.</a:t>
            </a:r>
          </a:p>
        </p:txBody>
      </p:sp>
      <p:pic>
        <p:nvPicPr>
          <p:cNvPr id="6" name="Picture 5" descr="glossary_llm_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COURSE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Teaching Strategy &amp; Lecture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4B8A6"/>
                </a:solidFill>
                <a:latin typeface="Arial"/>
              </a:defRPr>
            </a:pPr>
            <a:r>
              <a:t>Recommended Lecture Structure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1. Start with Paradigms: Make students classify everyday examples manually.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2. Regression vs. Classification: Differentiate numeric forecasting vs. discrete categorization.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3. Mathematics to Code: Show the formulas (Lasso, Logistic) side-by-side with scikit-learn models.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4. Emphasize Evaluation: A model scoring 99% accuracy on training data is almost always overfit.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5. Hands-on labs: Have students tune K-Means centroids or Random Forest depths on standard datasets (Iris/Titanic).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6. Introduce Generative AI: Transition from embeddings (Word2Vec) to sequential comprehension (Transformers).</a:t>
            </a:r>
          </a:p>
          <a:p>
            <a:pPr>
              <a:spcAft>
                <a:spcPts val="1200"/>
              </a:spcAft>
              <a:defRPr sz="1600">
                <a:solidFill>
                  <a:srgbClr val="A1A1AA"/>
                </a:solidFill>
              </a:defRPr>
            </a:pPr>
            <a:r>
              <a:t>7. Explain Autonomous systems: Focus on reasoning loops (thought/action/observation) and standardized tooling interfaces (MCP).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